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74920" y="0"/>
            <a:ext cx="45720" cy="68580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66360" y="0"/>
            <a:ext cx="18288" cy="68580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BDEFB"/>
                </a:solidFill>
                <a:latin typeface="Calibri"/>
              </a:rPr>
              <a:t>DOCUMENTAÇÃO TÉCNICA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Analytics
Engineering
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BBDEFB"/>
                </a:solidFill>
                <a:latin typeface="Calibri"/>
              </a:rPr>
              <a:t>Generic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dbt · DuckDB · Snowflake
Streamlit · Plotly
Anthropic Claude ·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0972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  <a:latin typeface="Calibri"/>
              </a:rPr>
              <a:t>RESUMO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55448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Plataforma de dados que materializa, em código produtivo e versionado, o pipeline analítico de um marketplace global de médio porte.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918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3D91"/>
                </a:solidFill>
                <a:latin typeface="Calibri"/>
              </a:rPr>
              <a:t>AUTOR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918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Hugo Flávio Santos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703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3D91"/>
                </a:solidFill>
                <a:latin typeface="Calibri"/>
              </a:rPr>
              <a:t>CARGO-ALVO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7033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Senior Data Engineer / Analytics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1148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3D91"/>
                </a:solidFill>
                <a:latin typeface="Calibri"/>
              </a:rPr>
              <a:t>CONTATO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1148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hugoflavio1805@hotmail.com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5262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3D91"/>
                </a:solidFill>
                <a:latin typeface="Calibri"/>
              </a:rPr>
              <a:t>REPOSITÓRIO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5262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github.com/hugoflavio1805/analytics-engineering-platform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9377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3D91"/>
                </a:solidFill>
                <a:latin typeface="Calibri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9377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10 de maio de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349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3D91"/>
                </a:solidFill>
                <a:latin typeface="Calibri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3492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PASS=131 · WARN=0 · ERROR=0 · 11.6s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Sumário · 20 seções + 6 visões de apoio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02 / 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01  Resumo Executivo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12264"/>
            <a:ext cx="5486400" cy="420624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12264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02  Contexto de Negócio · Perguntas-Chave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32888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532888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03  Stack Técnica Detalhada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53512"/>
            <a:ext cx="5486400" cy="420624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953512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04  Arquitetura da Plataforma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74136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374136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05  Modelo Dimensional Kimball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94760"/>
            <a:ext cx="5486400" cy="420624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06  Geração de Dados Sintéticos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15384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215384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07  Camada Staging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636008"/>
            <a:ext cx="5486400" cy="420624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636008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08  Camada Intermediária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56632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056632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09  Marts Analíticos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477256"/>
            <a:ext cx="5486400" cy="420624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477256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10  Pipeline Observability (Audit)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691640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1691640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11  Dashboard · 7 Abas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112264"/>
            <a:ext cx="5486400" cy="420624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112264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12  Aba Promotions Detalhada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532888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2532888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13  AI Insights com Claude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953512"/>
            <a:ext cx="5486400" cy="420624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2953512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14  Containerização Docker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374136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3374136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15  Qualidade de Dados e Testes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794760"/>
            <a:ext cx="5486400" cy="420624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3794760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16  CI/CD e GitHub Actions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215384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4215384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17  Custo, Escala e Operação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636008"/>
            <a:ext cx="5486400" cy="420624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4636008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18  Decisões e Trade-offs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056632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55080" y="5056632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19  Limitações e Roadmap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5477256"/>
            <a:ext cx="5486400" cy="420624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55080" y="5477256"/>
            <a:ext cx="5303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20  Glossário Técnico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1. Resumo Executivo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O princípio: raw stays raw · dashboards stay dumb · um único lugar por métrica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03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Plataforma multi-camada que materializa, em código produtivo e versionado, o pipeline analítico de um marketplace global. As fontes brutas nunca são tocadas; toda derivação é versionada nos modelos dbt; nenhum cálculo de negócio acontece dentro do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06040"/>
            <a:ext cx="11247120" cy="8686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606040"/>
            <a:ext cx="73152" cy="868680"/>
          </a:xfrm>
          <a:prstGeom prst="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752344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Headline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81528"/>
            <a:ext cx="109270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5E20"/>
                </a:solidFill>
                <a:latin typeface="Calibri"/>
              </a:rPr>
              <a:t>131 testes dbt verdes em 11,6 segundos · 10 dimensões + 6 fatos + 7 marts analíticos · 7 abas no dashboard com tema dark · tabela de auditoria capturando cada execução · integração Claude com guardrails anti-alucinação.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2697480" cy="1143000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3822192"/>
            <a:ext cx="2368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  <a:latin typeface="Calibri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114800"/>
            <a:ext cx="23682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3D91"/>
                </a:solidFill>
                <a:latin typeface="Consolas"/>
              </a:rPr>
              <a:t>7.458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3657600"/>
            <a:ext cx="2697480" cy="1143000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9584" y="3822192"/>
            <a:ext cx="2368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  <a:latin typeface="Calibri"/>
              </a:rPr>
              <a:t>GMV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4114800"/>
            <a:ext cx="23682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3D91"/>
                </a:solidFill>
                <a:latin typeface="Consolas"/>
              </a:rPr>
              <a:t>$8,1M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3657600"/>
            <a:ext cx="2697480" cy="1143000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91656" y="3822192"/>
            <a:ext cx="2368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  <a:latin typeface="Calibri"/>
              </a:rPr>
              <a:t>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4114800"/>
            <a:ext cx="23682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3D91"/>
                </a:solidFill>
                <a:latin typeface="Consolas"/>
              </a:rPr>
              <a:t>5.000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9136" y="3657600"/>
            <a:ext cx="2697480" cy="1143000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3728" y="3822192"/>
            <a:ext cx="2368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  <a:latin typeface="Calibri"/>
              </a:rPr>
              <a:t>SELLERS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4114800"/>
            <a:ext cx="23682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3D91"/>
                </a:solidFill>
                <a:latin typeface="Consolas"/>
              </a:rPr>
              <a:t>1.000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01768"/>
            <a:ext cx="2697480" cy="1143000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5166360"/>
            <a:ext cx="2368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  <a:latin typeface="Calibri"/>
              </a:rPr>
              <a:t>RETURN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5458968"/>
            <a:ext cx="23682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3D91"/>
                </a:solidFill>
                <a:latin typeface="Consolas"/>
              </a:rPr>
              <a:t>10,5%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64992" y="5001768"/>
            <a:ext cx="2697480" cy="1143000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29584" y="5166360"/>
            <a:ext cx="2368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  <a:latin typeface="Calibri"/>
              </a:rPr>
              <a:t>CHARGEBACK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9584" y="5458968"/>
            <a:ext cx="23682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3D91"/>
                </a:solidFill>
                <a:latin typeface="Consolas"/>
              </a:rPr>
              <a:t>4,06%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7064" y="5001768"/>
            <a:ext cx="2697480" cy="1143000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91656" y="5166360"/>
            <a:ext cx="2368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  <a:latin typeface="Calibri"/>
              </a:rPr>
              <a:t>AOV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5458968"/>
            <a:ext cx="23682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3D91"/>
                </a:solidFill>
                <a:latin typeface="Consolas"/>
              </a:rPr>
              <a:t>$1.090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89136" y="5001768"/>
            <a:ext cx="2697480" cy="1143000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53728" y="5166360"/>
            <a:ext cx="2368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  <a:latin typeface="Calibri"/>
              </a:rPr>
              <a:t>JANELA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728" y="5458968"/>
            <a:ext cx="23682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3D91"/>
                </a:solidFill>
                <a:latin typeface="Consolas"/>
              </a:rPr>
              <a:t>2022-2026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2. Contexto de Negócio · Perguntas-Chave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Marketplace global de médio porte · 15 países · 9 categorias · 4 anos de histórico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04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  <a:latin typeface="Calibri"/>
              </a:rPr>
              <a:t>Três perguntas operacionais que a plataforma responde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0312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Domínio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Pergunta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Stakeholder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Returns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Quais categorias × regiões drenam mais GMV via devoluções?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VP Operations · Category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Promotions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Quais campanhas têm ROI positivo após chargebacks/devoluções?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Marketing · Finance · Risk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Logistics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Quais transportadoras erram SLA e geram retornos por atraso?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Fulfillment · Last-mile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38404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  <a:latin typeface="Calibri"/>
              </a:rPr>
              <a:t>Perguntas estratégicas adicionais (com mart dedicado para cada)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434340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Pergunta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Mart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Cohorts de aquisição retêm como?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customer_cohort_retention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Qual % de sellers domina qual % do GMV?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pareto_sellers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Como o negócio cresce MoM/YoY?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growth_metrics_monthly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LTV líquido por segmento?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customer_ltv_by_segment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Como a própria pipeline está performando?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pipeline_health (audit)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3. Stack Técnica Detalhada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16 ferramentas · tier gratuito ou equivalência local + produtiva sem reescrita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05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00200"/>
          <a:ext cx="11247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Ferramenta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Versão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Papel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dbt-core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1.9.10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Modelagem SQL declarativa staging → marts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dbt-duckdb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1.9.6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Plugin dbt + DuckDB com external_location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DuckDB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1.5.2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Warehouse OLAP local (vetorizado C++)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Snowflake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Destino prod · zero-copy clones · Snowpipe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Streamlit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1.57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Front-end app Python end-to-end (dark)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Plotly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Heatmap, choropleth, dual-axis, donut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Anthropic Claude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Sonnet 4.6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Narrativas com anti-hallucination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Docker Compose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v5.1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Stack reproduzível dbt-build + dashboard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GitHub Actions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Lint + dbt build + deploy de docs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sqlfluff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Padronização SQL em PR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Tableau Public + Metabase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BI surfaces paralelos para stakeholders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7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Python · PowerShell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3.11 · 5.1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Módulos dashboard + geração de dados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3. Por que essas escolhas, especificamente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Cada decisão de stack tem um motivo defensável em entrevista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06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2103120"/>
          </a:xfrm>
          <a:prstGeom prst="rect">
            <a:avLst/>
          </a:prstGeom>
          <a:solidFill>
            <a:srgbClr val="F5F9FF"/>
          </a:solidFill>
          <a:ln w="635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109728" cy="21031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dbt-core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Lineage como subproduto (ref()), tests próximos ao modelo, materialização como configuração, portabilidade entre adapters, hooks on-run-* para instrumentação.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5486400" cy="2103120"/>
          </a:xfrm>
          <a:prstGeom prst="rect">
            <a:avLst/>
          </a:prstGeom>
          <a:solidFill>
            <a:srgbClr val="F5F9FF"/>
          </a:solidFill>
          <a:ln w="635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109728" cy="21031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DuckDB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Zero infra (in-process), performance OLAP (vetorizado C++), constraints reais (FK, CHECK), arquivo único compartilhável, QUALIFY nativo.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77640"/>
            <a:ext cx="5486400" cy="2103120"/>
          </a:xfrm>
          <a:prstGeom prst="rect">
            <a:avLst/>
          </a:prstGeom>
          <a:solidFill>
            <a:srgbClr val="F5F9FF"/>
          </a:solidFill>
          <a:ln w="635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977640"/>
            <a:ext cx="109728" cy="21031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Streamlit ≥ 1.40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Python end-to-end, dark theme via CSS embutido, deploy simples. Versão pinada para resolver conflito protobuf &lt; 6 com dbt-core 1.9.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977640"/>
            <a:ext cx="5486400" cy="2103120"/>
          </a:xfrm>
          <a:prstGeom prst="rect">
            <a:avLst/>
          </a:prstGeom>
          <a:solidFill>
            <a:srgbClr val="F5F9FF"/>
          </a:solidFill>
          <a:ln w="6350">
            <a:solidFill>
              <a:srgbClr val="BBD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977640"/>
            <a:ext cx="109728" cy="21031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4114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Anthropic Claude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8056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Sonnet 4.6 como default (rápido + barato). Opus 4.7 opcional. Cache em disco 60 min por signature — token economy.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4. Arquitetura da Plataforma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Cinco camadas + audit transversal + múltiplos consumers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07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7498079" cy="502920"/>
          </a:xfrm>
          <a:prstGeom prst="rect">
            <a:avLst/>
          </a:prstGeom>
          <a:solidFill>
            <a:srgbClr val="F5F9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137160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2821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3D91"/>
                </a:solidFill>
                <a:latin typeface="Calibri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47672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16 raw CSVs · 6 fact-grade + 10 dimension-grade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86000"/>
            <a:ext cx="7498079" cy="502920"/>
          </a:xfrm>
          <a:prstGeom prst="rect">
            <a:avLst/>
          </a:prstGeom>
          <a:solidFill>
            <a:srgbClr val="F5F9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286000"/>
            <a:ext cx="137160" cy="5029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32257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STAGING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42032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stg_* · table-materialized · casts + normalização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0360"/>
            <a:ext cx="7498079" cy="502920"/>
          </a:xfrm>
          <a:prstGeom prst="rect">
            <a:avLst/>
          </a:prstGeom>
          <a:solidFill>
            <a:srgbClr val="F5F9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2880360"/>
            <a:ext cx="137160" cy="5029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916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976D2"/>
                </a:solidFill>
                <a:latin typeface="Calibri"/>
              </a:rPr>
              <a:t>INTERMEDIATE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36392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int_* · ephemeral · regras de negócio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474720"/>
            <a:ext cx="7498079" cy="502920"/>
          </a:xfrm>
          <a:prstGeom prst="rect">
            <a:avLst/>
          </a:prstGeom>
          <a:solidFill>
            <a:srgbClr val="F5F9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474720"/>
            <a:ext cx="137160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5112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  <a:latin typeface="Calibri"/>
              </a:rPr>
              <a:t>MARTS ·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30752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10 dims + 6 facts · Kimball star schema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69080"/>
            <a:ext cx="7498079" cy="502920"/>
          </a:xfrm>
          <a:prstGeom prst="rect">
            <a:avLst/>
          </a:prstGeom>
          <a:solidFill>
            <a:srgbClr val="F5F9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137160" cy="502920"/>
          </a:xfrm>
          <a:prstGeom prst="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10565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88E3C"/>
                </a:solidFill>
                <a:latin typeface="Calibri"/>
              </a:rPr>
              <a:t>MARTS ·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325112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 marts dedicados (1 por pergunta) +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6916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3D91"/>
                </a:solidFill>
                <a:latin typeface="Calibri"/>
              </a:rPr>
              <a:t>CONSUMERS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993392"/>
            <a:ext cx="3520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204825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3D91"/>
                </a:solidFill>
                <a:latin typeface="Calibri"/>
              </a:rPr>
              <a:t>Streamlit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286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7 abas · :8501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679192"/>
            <a:ext cx="3520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66760" y="273405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3D91"/>
                </a:solidFill>
                <a:latin typeface="Calibri"/>
              </a:rPr>
              <a:t>Anthropic Claude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9718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Aba AI Insights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364992"/>
            <a:ext cx="3520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66760" y="341985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3D91"/>
                </a:solidFill>
                <a:latin typeface="Calibri"/>
              </a:rPr>
              <a:t>Tableau Public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657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Executive 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050792"/>
            <a:ext cx="3520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66760" y="410565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3D91"/>
                </a:solidFill>
                <a:latin typeface="Calibri"/>
              </a:rPr>
              <a:t>Metabase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3434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Drill-down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983480"/>
            <a:ext cx="11247120" cy="128016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02920" y="4983480"/>
            <a:ext cx="73152" cy="128016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5129784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AUDIT LAYER · main_audit.dbt_runs (visão transversal)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458968"/>
            <a:ext cx="10927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  <a:latin typeface="Calibri"/>
              </a:rPr>
              <a:t>Toda execução do dbt grava 1 row por nó (model/test/seed) em main_audit.dbt_runs com run_id, git_sha, status, duration_ms, message. Renderizado na aba Pipeline Health.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4. Cinco princípios arquiteturais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Aplicados em cada camada · cada um defendido em entrevista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08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94360" cy="71323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94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0020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Raw stays 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47672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Source CSVs preservados em data/raw_original/. Nenhuma derivação acontece neles. Toda inteligência vive no dbt.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68880"/>
            <a:ext cx="594360" cy="71323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468880"/>
            <a:ext cx="594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6888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Dashboards stay dumb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16352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O Streamlit roda apenas SELECT * FROM mart_*. Zero JOINs, zero agregações, zero lógica de negócio no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37560"/>
            <a:ext cx="594360" cy="71323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337560"/>
            <a:ext cx="594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375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One mart per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85032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Cada pergunta de negócio tem seu próprio mart analítico. Quando a definição muda, muda em um lugar só.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06240"/>
            <a:ext cx="594360" cy="71323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206240"/>
            <a:ext cx="594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0624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Pipeline observability is first-class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553712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Cada execução do dbt deixa rastro em main_audit.dbt_runs. A própria plataforma é monitorada como um produto.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74920"/>
            <a:ext cx="594360" cy="71323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074920"/>
            <a:ext cx="594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07492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AI is a writer, not an 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422392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Claude recebe payloads pré-agregados e tem instrução explícita de não inventar números — narra o que dbt já provou.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5. Modelo Kimball · 10 Dimensões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Conformadas · cada uma carrega rollups derivados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09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002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Dimensão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Grão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Rollups derivados / atributos-chave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dim_mkt_customer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 cliente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orders_count, lifetime_gmv, returned_orders_count, tenure_days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dim_seller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 vendedor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products_count, orders_count, gmv, tenure_days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dim_product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 produto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units_sold, revenue, returns_count, has_negative_price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dim_category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 categoria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products_count, units_sold, gross_sales · hierarquia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dim_geography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 país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country_name, region, continent, currency, is_eu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dim_date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 dia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is_weekend, is_black_friday, is_cyber_monday, is_promo_peak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dim_carrier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 transportadora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sla_promised_days, reliability_score, sla_miss_rate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dim_payment_method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 método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processor_fee_pct, settlement_days, chargeback_rate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dim_return_reason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 motivo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reason_category, is_actionable_by_seller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dim_promotion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 campanha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promotion_type, discount_value, is_aggressive, gmv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5. Modelo Kimball · 6 Fatos + 7 Marts Analíticos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fct_orders incremental · demais como table · marts servidos direto ao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10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OS 6 FATOS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965960"/>
          <a:ext cx="54864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Fato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Materialização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fct_orders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incremental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fct_order_items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fct_payments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fct_returns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fct_reviews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fct_shipping_events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OS 7 MARTS ANALÍTICOS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63640" y="1965960"/>
          <a:ext cx="54864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Mart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Pergunta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category_region_return_rate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Returns leak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gmv_by_promotion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Promo ROI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sla_by_carrier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Logistics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customer_cohort_retention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Cohorts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pareto_sellers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80-20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growth_metrics_monthly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MoM/YoY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customer_ltv_by_segment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2920" y="5029200"/>
            <a:ext cx="11247120" cy="128016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029200"/>
            <a:ext cx="73152" cy="128016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175504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Disciplina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04688"/>
            <a:ext cx="10927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  <a:latin typeface="Calibri"/>
              </a:rPr>
              <a:t>O dashboard consome esses marts com SELECT * — sem JOINs, sem agregações em código de aplicação. Se uma definição muda, muda no mart, propaga automaticamente.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6. Geração de Dados Sintéticos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Calibrado contra benchmarks públicos · embute sinais que a pipeline depois descobre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11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VOLUMES (uma única execução PowerShell gera tudo)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9659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Tabela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Linhas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Observação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orders.csv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7.500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Sazonalidade Q4 spike + julho dip + YoY 15%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order_items.csv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~19.000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1-4 itens por pedido; +1 em promoções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payments.csv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~7.460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Pulado em ~5% de pedidos cancelados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returns.csv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~1.300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~17% dos delivered · calibrado por categoria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reviews.csv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~5.000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Rating 1-5 correlacionado com retorno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shipping_events.csv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~28.000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 eventos por pedido em média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customers.csv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5.000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 países · 18% prime · signup 2022-2026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sellers.csv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200+ verified · 3% country code minúsculo (DQ)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products.csv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5.000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 categorias · 26 marcas · 4% SKUs duplicados (DQ)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+ 7 dimensões pequenas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~1.700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categories, geography, dates, carriers, etc.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6. Sinais de Negócio Embutidos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Cada sinal é descoberto pela pipeline e aparece em um mart específico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12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002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Sinal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Codificação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Surface no mart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Q4 spike + Cyber-week pulse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30% dos pedidos em Nov 20-Dec 31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Overview · Growth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Julho dip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5% em julho (post-Prime cooldown)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Time series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YoY growth ~15%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Anos novos com peso maior na distribuição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growth_metrics_monthly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Aggressive promo → chargeback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+14,46pp absoluto (+367% relativo)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Aba Promotions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Crypto + LATAM = fraude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12% chargeback vs 4% baseline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dim_payment_method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Carrier reliability ↔ retornos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Low score → 'arrived_late' returns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sla_by_carrier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Fashion + LATAM = refund $$$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27% × 1.10× = 30% return rate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category_region_return_rate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APAC retorna menos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0,85× modificador regional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Mesmo mart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Returned orders → low ratings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Reviews 1-3 estrelas concentradas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fct_reviews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7. Camada Staging · Disciplina e Casts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stg_* — escopo limitado e ruthlessly enforced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13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88E3C"/>
                </a:solidFill>
                <a:latin typeface="Calibri"/>
              </a:rPr>
              <a:t>O QUE STAGING FAZ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66928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Type-cast (try_cast guarda contra valores malformados)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Normalizar IDs: upper(replace(_,'-')) em todo FK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Trim whitespace; lowercase de emails e enums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Flag DQ issues (has_valid_email, has_negative_price)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Materializado como table — warehouse self-contained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O QUE STAGING NÃO FAZ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00600"/>
            <a:ext cx="566928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C62828"/>
                </a:solidFill>
                <a:latin typeface="Calibri"/>
              </a:rPr>
              <a:t>▸  </a:t>
            </a:r>
            <a:r>
              <a:rPr sz="1100">
                <a:solidFill>
                  <a:srgbClr val="5C5C5C"/>
                </a:solidFill>
                <a:latin typeface="Calibri"/>
              </a:rPr>
              <a:t>Regras de negócio (vivem em intermediate / marts)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C62828"/>
                </a:solidFill>
                <a:latin typeface="Calibri"/>
              </a:rPr>
              <a:t>▸  </a:t>
            </a:r>
            <a:r>
              <a:rPr sz="1100">
                <a:solidFill>
                  <a:srgbClr val="5C5C5C"/>
                </a:solidFill>
                <a:latin typeface="Calibri"/>
              </a:rPr>
              <a:t>JOINs entre sources (vivem em marts)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C62828"/>
                </a:solidFill>
                <a:latin typeface="Calibri"/>
              </a:rPr>
              <a:t>▸  </a:t>
            </a:r>
            <a:r>
              <a:rPr sz="1100">
                <a:solidFill>
                  <a:srgbClr val="5C5C5C"/>
                </a:solidFill>
                <a:latin typeface="Calibri"/>
              </a:rPr>
              <a:t>Agregações (sempre em marts)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stg_orders.sql · parsing dual de datas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65960"/>
            <a:ext cx="5349240" cy="438912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2075688"/>
            <a:ext cx="5056632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{{ config(materialized='table') }}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with src as (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select * from {{ source('marketplace_raw', 'orders') }}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),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parsed as (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select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*,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coalesce(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try_cast(order_date as date),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try_cast(strptime(order_date, '%d/%m/%Y') as date)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) as order_date_parsed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from src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)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select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order_id, customer_id,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order_date_parsed                    as order_date,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lower(status)                        as status,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upper(trim(ship_country))            as ship_country,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nullif(trim(promotion_id), '')       as promotion_id,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try_cast(items_count as integer)     as items_count,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try_cast(total as decimal(12,2))     as total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from parsed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8. Camada Intermediária · Regras de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Materialização ephemeral · não cria tabela física, apenas CTE inline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14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Regra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int_orders_clean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Drop pedidos com order_date nulo (parsing falhou). Drop self-cancelled sem payment (phantom orders).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int_returns_classified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Calcula days_to_return e is_within_policy (janela 30d, configurável via var). Mapeia reason → reason_category (product_issue / fit_issue / customer_driven / fulfillment_issue).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POR QUE EPHEMERAL (não table)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1124712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1976D2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Inline CTE no mart downstream — sem tabela física para manter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1976D2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Mesma SQL executa no nível do mart (custo igual)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1976D2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Força regras single-purpose: se você precisa queryar um intermediate no BI, promova para mart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10. Pipeline Observability · Audit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A camada que diferencia uma plataforma analítica madura de um conjunto de notebooks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15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Calibri"/>
              </a:rPr>
              <a:t>DUAS MACROS, UMA TABELA AUDIT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965960"/>
          <a:ext cx="5669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Hook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Efeito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on-run-start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ensure_audit_table()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Cria main_audit.dbt_runs se não existir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on-run-end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persist_run_results()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Escreve uma linha por nó executado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3520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Calibri"/>
              </a:rPr>
              <a:t>ROW SCHEMA CAPTURADO POR NÓ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566928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6A1B9A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run_id (sha do invocation_id) + git_sha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6A1B9A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invocation_at, started_at, completed_at, duration_ms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6A1B9A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node_id, node_name, resource_type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6A1B9A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status: success, pass, warn, fail, error, skipped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6A1B9A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message (em falhas) + rows_affected (em models)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macro persist_run_results.sql · excerpt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65960"/>
            <a:ext cx="5349240" cy="438912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2075688"/>
            <a:ext cx="5056632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{% macro persist_run_results() %}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{% if execute %}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{% set rows = [] %}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{% for result in results %}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  {% do rows.append({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    'run_id':        invocation_id,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    'git_sha':       env_var('GIT_SHA','unknown'),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    'duration_ms':   (result.execution_time * 1000) | round(0),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    'node_name':     result.node.name,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    'resource_type': result.node.resource_type,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    'status':        result.status | string,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    'message':       result.message | string,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    'rows_affected': result.adapter_response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                            .get('rows_affected', 0)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  }) %}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{% endfor %}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  INSERT INTO main_audit.dbt_runs VALUES ...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  {% endif %}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ECEFF1"/>
                </a:solidFill>
                <a:latin typeface="Consolas"/>
              </a:rPr>
              <a:t>{% endmacro %}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10. Pipeline Health · O dashboard da plataforma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A própria pipeline é monitorada como um produto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16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247120" cy="713232"/>
          </a:xfrm>
          <a:prstGeom prst="rect">
            <a:avLst/>
          </a:prstGeom>
          <a:solidFill>
            <a:srgbClr val="F5F9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647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Calibri"/>
              </a:rPr>
              <a:t>Hero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89280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Último run · status (verde/laranja/vermelho) · PASS/WARN/ERROR/duração · git_sha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68880"/>
            <a:ext cx="11247120" cy="713232"/>
          </a:xfrm>
          <a:prstGeom prst="rect">
            <a:avLst/>
          </a:prstGeom>
          <a:solidFill>
            <a:srgbClr val="F5F9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42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Calibri"/>
              </a:rPr>
              <a:t>Recent runs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7004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Scatter dos últimos 25 invocations, color-coded por overall_status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46120"/>
            <a:ext cx="11247120" cy="713232"/>
          </a:xfrm>
          <a:prstGeom prst="rect">
            <a:avLst/>
          </a:prstGeom>
          <a:solidFill>
            <a:srgbClr val="F5F9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Calibri"/>
              </a:rPr>
              <a:t>Test outcome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44728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Stacked area — PASS vs WARN vs FAIL ao longo do tempo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23360"/>
            <a:ext cx="11247120" cy="713232"/>
          </a:xfrm>
          <a:prstGeom prst="rect">
            <a:avLst/>
          </a:prstGeom>
          <a:solidFill>
            <a:srgbClr val="F5F9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096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Calibri"/>
              </a:rPr>
              <a:t>Slowest models (avg)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22452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Top 10 nós por avg duration_ms — pega regressão antes de virar incidente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00600"/>
            <a:ext cx="11247120" cy="713232"/>
          </a:xfrm>
          <a:prstGeom prst="rect">
            <a:avLst/>
          </a:prstGeom>
          <a:solidFill>
            <a:srgbClr val="F5F9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8737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Calibri"/>
              </a:rPr>
              <a:t>Last run breakdown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50017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Tabela node-by-node do build mais recente (status, duration, message)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760720"/>
            <a:ext cx="11247120" cy="5029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5760720"/>
            <a:ext cx="73152" cy="502920"/>
          </a:xfrm>
          <a:prstGeom prst="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907024"/>
            <a:ext cx="1092708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5E20"/>
                </a:solidFill>
                <a:latin typeface="Calibri"/>
              </a:rPr>
              <a:t>Diferenciador: a maioria das plataformas analíticas ship dashboards. Essa shipped um dashboard PLUS o dashboard do dashboard.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11. Dashboard Executivo · 7 abas estilo Amazon Seller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Tema dark · KPI strip global · grid denso · 1 mart por painel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17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0020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Aba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 que mostra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Overview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Sales-by-day, choropleth, 30-day strip, ad spend, shipping donut, top countries, AOV, reviews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GMV + MoM/YoY (dual-axis), cohort heatmap, Pareto curve, LTV grouped bars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Returns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Heatmap categoria × região, top-8 refund $, full mart explorer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Promotions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ROI scatter + type breakdown dual-axis + aggressive vs baseline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Logistics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SLA bar por carrier, chargeback rate por payment method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Pipeline Health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Hero card, runs timeline, test history, slowest models, last-run breakdown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AI Insights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 narrativas Claude · pre-aggregated payload · 60 min cache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989320"/>
            <a:ext cx="11247120" cy="36576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5989320"/>
            <a:ext cx="73152" cy="36576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135624"/>
            <a:ext cx="10927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  <a:latin typeface="Calibri"/>
              </a:rPr>
              <a:t>Cada gráfico consome um único mart. Quando a métrica muda, muda no dbt — propaga aqui automaticamente.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12. Aba Promotions · O sinal central da plataforma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Aggressive promos lift GMV but raise chargebacks disproportionately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18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BUCKET COMPARISON · weighted by orders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96596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GMV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AOV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Chargeback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Lift vs baseline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Baseline (no promo)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7.151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$7,84M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$1.096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3,93%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Regular promo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$170K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$1.416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5,94%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+2,01 pp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Aggressive (≥30% / BOGO)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$255K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$1.507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18,39%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+14,46 pp · +367%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3657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BREAKDOWN POR TIPO DE PROMOÇÃO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402336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Campanhas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GMV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Chargeback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BOGO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$141K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28,3%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Worst — fraud magnet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Percentage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$125K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14,5%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Medium risk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Free shipping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$113K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7,8%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Cleanest aggressive tactic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Flat amount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$45K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1,6%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Lowest risk, lowest volume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2920" y="5897880"/>
            <a:ext cx="11247120" cy="4572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97880"/>
            <a:ext cx="73152" cy="4572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044184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  <a:latin typeface="Calibri"/>
              </a:rPr>
              <a:t>Ação operacional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73368"/>
            <a:ext cx="1092708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5100"/>
                </a:solidFill>
                <a:latin typeface="Calibri"/>
              </a:rPr>
              <a:t>Recomendação: Finance approval para is_aggressive=true; Q4 default = free-shipping; bloquear crypto em janelas agressivas.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13. AI Insights com Anthropic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Quatro guardrails complementares · narrativa em estilo OP1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19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Calibri"/>
              </a:rPr>
              <a:t>GUARDRAILS ANTI-ALUCINAÇÃO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6692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6A1B9A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Modelo nunca vê rows raw — só recebe payload pré-agregado (top-5, deltas, anomalias)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6A1B9A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System prompt explícito: "Only cite numbers that appear verbatim in the input."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6A1B9A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Estilo OP1: lead com so-what, 4 parágrafos máximo, recomendação como hipótese testável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6A1B9A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Cache em disco 60 min por signature do payload — token economy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6A1B9A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Degradação graciosa: sem chave → JSON do payload com aviso "AI disabled"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ECONOMIA (Sonnet 4.6)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1965960"/>
          <a:ext cx="5349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Tokens input / seção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~600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Tokens output / seção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~350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Seções por refresh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 (Overview/Returns/Promo/Logistics)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Custo / refresh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~$0,01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Cache TTL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60 minutos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69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Custo browsing típico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Centavos de dólar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0" y="4617720"/>
            <a:ext cx="5349240" cy="16459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4617720"/>
            <a:ext cx="73152" cy="1645920"/>
          </a:xfrm>
          <a:prstGeom prst="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76402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Por que esse desenho importa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093208"/>
            <a:ext cx="5029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5E20"/>
                </a:solidFill>
                <a:latin typeface="Calibri"/>
              </a:rPr>
              <a:t>Pôr um LLM direto em mart financeiro é o tipo de decisão que pode quebrar uma entrevista. Pre-aggregation + regra verbatim = modelo provavelmente constrangido e cada número é rastreável a uma linha do warehouse.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14. Containerização · Docker 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Dois serviços orquestrados · roda em ~17 segundos clone → dashboard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20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7498079" cy="475488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1709928"/>
            <a:ext cx="7205471" cy="4535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services: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dbt-build:                                # one-shot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image: dbt-build (from docker/Dockerfile.dbt)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volumes: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- ./dbt:/workspace/dbt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- ./cases:/workspace/cases:ro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- aep_warehouse:/warehouse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environment: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DBT_DUCKDB_PATH:     /warehouse/warehouse.duckdb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MARKETPLACE_RAW_DIR: /workspace/cases/marketplace/data/raw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command: ["build", "--profiles-dir", ".", "--target", "duckdb"]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dashboard:                                # Streamlit + Plotly + Claude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image: dashboard (from app/Dockerfile)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depends_on: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dbt-build: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  condition: service_completed_successfully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ports: ["8501:8501"]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volumes: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- aep_warehouse:/warehouse:ro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- aep_ai_cache:/app/.ai_cache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env_file: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- path: ./.env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  required: false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environment: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DUCKDB_PATH:     /warehouse/warehouse.duckdb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    ANTHROPIC_MODEL: ${ANTHROPIC_MODEL:-claude-sonnet-4-6}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volumes: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aep_warehouse: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CEFF1"/>
                </a:solidFill>
                <a:latin typeface="Consolas"/>
              </a:rPr>
              <a:t>  aep_ai_cache: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DECISÕES-CHAVE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57400"/>
            <a:ext cx="35204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1">
                <a:solidFill>
                  <a:srgbClr val="1976D2"/>
                </a:solidFill>
                <a:latin typeface="Calibri"/>
              </a:rPr>
              <a:t>▸  </a:t>
            </a:r>
            <a:r>
              <a:rPr sz="1000">
                <a:solidFill>
                  <a:srgbClr val="1A1A1A"/>
                </a:solidFill>
                <a:latin typeface="Calibri"/>
              </a:rPr>
              <a:t>Volumes nomeados (não bind mounts) — resolve permissão Windows</a:t>
            </a:r>
          </a:p>
          <a:p>
            <a:pPr algn="l">
              <a:lnSpc>
                <a:spcPct val="145000"/>
              </a:lnSpc>
            </a:pPr>
            <a:r>
              <a:rPr sz="1000" b="1">
                <a:solidFill>
                  <a:srgbClr val="1976D2"/>
                </a:solidFill>
                <a:latin typeface="Calibri"/>
              </a:rPr>
              <a:t>▸  </a:t>
            </a:r>
            <a:r>
              <a:rPr sz="1000">
                <a:solidFill>
                  <a:srgbClr val="1A1A1A"/>
                </a:solidFill>
                <a:latin typeface="Calibri"/>
              </a:rPr>
              <a:t>service_completed_successfully — dashboard só sobe se build verde</a:t>
            </a:r>
          </a:p>
          <a:p>
            <a:pPr algn="l">
              <a:lnSpc>
                <a:spcPct val="145000"/>
              </a:lnSpc>
            </a:pPr>
            <a:r>
              <a:rPr sz="1000" b="1">
                <a:solidFill>
                  <a:srgbClr val="1976D2"/>
                </a:solidFill>
                <a:latin typeface="Calibri"/>
              </a:rPr>
              <a:t>▸  </a:t>
            </a:r>
            <a:r>
              <a:rPr sz="1000">
                <a:solidFill>
                  <a:srgbClr val="1A1A1A"/>
                </a:solidFill>
                <a:latin typeface="Calibri"/>
              </a:rPr>
              <a:t>CSVs montados read-only — defesa contra escrita acidental</a:t>
            </a:r>
          </a:p>
          <a:p>
            <a:pPr algn="l">
              <a:lnSpc>
                <a:spcPct val="145000"/>
              </a:lnSpc>
            </a:pPr>
            <a:r>
              <a:rPr sz="1000" b="1">
                <a:solidFill>
                  <a:srgbClr val="1976D2"/>
                </a:solidFill>
                <a:latin typeface="Calibri"/>
              </a:rPr>
              <a:t>▸  </a:t>
            </a:r>
            <a:r>
              <a:rPr sz="1000">
                <a:solidFill>
                  <a:srgbClr val="1A1A1A"/>
                </a:solidFill>
                <a:latin typeface="Calibri"/>
              </a:rPr>
              <a:t>env_file opcional — stack sobe mesmo sem .env</a:t>
            </a:r>
          </a:p>
          <a:p>
            <a:pPr algn="l">
              <a:lnSpc>
                <a:spcPct val="145000"/>
              </a:lnSpc>
            </a:pPr>
            <a:r>
              <a:rPr sz="1000" b="1">
                <a:solidFill>
                  <a:srgbClr val="1976D2"/>
                </a:solidFill>
                <a:latin typeface="Calibri"/>
              </a:rPr>
              <a:t>▸  </a:t>
            </a:r>
            <a:r>
              <a:rPr sz="1000">
                <a:solidFill>
                  <a:srgbClr val="1A1A1A"/>
                </a:solidFill>
                <a:latin typeface="Calibri"/>
              </a:rPr>
              <a:t>Mesma stack roda dev e CI — só muda target dbt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15. Qualidade de Dados · 131 Testes Verdes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schema + relationships + singular tests + freshness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21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DISTRIBUIÇÃO DOS TESTES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96596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Qtd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Cobertura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unique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~25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PK de toda dim e fact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not_null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~30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PKs e business keys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relationships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~8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FKs entre marts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accepted_values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~12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Enums (status, region, etc.)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Singular tests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Invariantes de negócio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SINGULAR TESTS · invariantes complexas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1965960"/>
          <a:ext cx="5349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Invariante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marketplace_no_negative_unit_price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unit_price &gt; 0 em todo produto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marketplace_payment_amount_matches_order_total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abs(payment_amount - order_total) ≤ 0.01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marketplace_returns_within_policy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Devoluções em até 30d do delivery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2920" y="4526280"/>
            <a:ext cx="11247120" cy="13716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4526280"/>
            <a:ext cx="73152" cy="1371600"/>
          </a:xfrm>
          <a:prstGeom prst="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672584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Build status da última execução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01768"/>
            <a:ext cx="1092708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5E20"/>
                </a:solidFill>
                <a:latin typeface="Calibri"/>
              </a:rPr>
              <a:t>PASS=131 · WARN=0 · ERROR=0 · SKIP=0 · 11.6 segundos. Todos os testes verdes. Histórico de execuções persistido em main_audit.dbt_runs.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17. Custo, Escala e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Custo atual, fronteira de escala, e o que muda em 10×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22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3D91"/>
                </a:solidFill>
                <a:latin typeface="Calibri"/>
              </a:rPr>
              <a:t>CUSTO ATUAL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96596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Local DuckDB + Docker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Snowflake XS, build diário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$15-25/mês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Snowflake XS, volume 10×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~$80/mês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GitHub Actions (público)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$0 (2k min free)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Anthropic Claude / refresh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~$0,01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Build end-to-end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~17 segundos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88E3C"/>
                </a:solidFill>
                <a:latin typeface="Calibri"/>
              </a:rPr>
              <a:t>COMO ESCALA PARA 10×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39496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fct_orders incremental: custo cresce com delta, não tamanho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Snowflake XS aguenta até ~5M linhas/dia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Hit rate alto no cache de IA reduz custo Claude para ~zero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Streamlit/Tableau/Metabase escalam linearmente com cliques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83480"/>
            <a:ext cx="11247120" cy="118872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4983480"/>
            <a:ext cx="73152" cy="11887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129784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Insight de escala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58968"/>
            <a:ext cx="109270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  <a:latin typeface="Calibri"/>
              </a:rPr>
              <a:t>Custo de oportunidade do design: incremental + ephemeral em camada certa transforma o profile de custo de "linear com tamanho da tabela" para "linear com delta diário".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18. Decisões e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Cada escolha defensável em entrevista — com o custo aceito explícito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23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00200"/>
          <a:ext cx="11247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Decisão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 que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Trade-off aceito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dbt + DuckDB local · Snowflake prod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Zero custo dev · mesma SQL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Dois adapters em CI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Staging como table (não view)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Warehouse self-contained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--full-refresh ao mudar source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AI recebe só payload pré-agregado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Anti-alucinação garantida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Não pode "descobrir" insight novo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Streamlit em vez de Tableau como primário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Python E2E · AI-native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Menos polido out-of-the-box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Docker volumes nomeados (não binds)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Sem problemas Windows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Warehouse preso no volume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Audit em main_audit.dbt_runs (não CSV)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Queryable como mart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Retenção precisa configurar em prod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Gerador PowerShell (não Python)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Nativo no Windows dev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Menos portável Linux CI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19. Limitações 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O que sei que falta · próximos passos priorizados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24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LIMITAÇÕES CONHECIDAS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6692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C62828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Volume sintético — não substitui dados reais para causal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C62828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fct_orders incremental requer --full-refresh ao regerar fonte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C62828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Aba AI Insights depende de créditos Anthropic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C62828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Tableau Public ainda é placeholder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C62828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Choropleth só por país (falta breakdown por estado)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C62828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Audit log sem retenção configurada em prod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88E3C"/>
                </a:solidFill>
                <a:latin typeface="Calibri"/>
              </a:rPr>
              <a:t>ROADMAP · próximos passos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3949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Reverse ETL → CRM (Hightouch/Census)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Great Expectations para distribuição (além de constraints)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dbt Semantic Layer / MetricFlow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Anomaly detection por canal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Snowflake target validado end-to-end em CI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RBAC no Streamlit por papel (Finance / Ops / CX)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388E3C"/>
                </a:solidFill>
                <a:latin typeface="Calibri"/>
              </a:rPr>
              <a:t>▸  </a:t>
            </a:r>
            <a:r>
              <a:rPr sz="1100">
                <a:solidFill>
                  <a:srgbClr val="1A1A1A"/>
                </a:solidFill>
                <a:latin typeface="Calibri"/>
              </a:rPr>
              <a:t>Multi-tenant audit (separar runs por tenant)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9144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B3D91"/>
                </a:solidFill>
                <a:latin typeface="Calibri"/>
              </a:rPr>
              <a:t>20. Glossário Técnico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65C0"/>
                </a:solidFill>
                <a:latin typeface="Calibri"/>
              </a:rPr>
              <a:t>Termos que vão aparecer nas perguntas — definidos com precisão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C5C5C"/>
                </a:solidFill>
                <a:latin typeface="Consolas"/>
              </a:rPr>
              <a:t>25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00200"/>
          <a:ext cx="5577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Definição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GMV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Gross Merchandise Value · total transacionado antes de descontos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AOV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Average Order Value · GMV ÷ pedidos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AUO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Average Units per Order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Lifetime Value · receita líquida por cliente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Chargeback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Disputa cartão pelo titular · indicador fraude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Grupo adquirido no mesmo período · retenção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Pareto 80-20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~80% do efeito vem de ~20% das causas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MoM / YoY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Month-over-Month / Year-over-Year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60020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Definição</a:t>
                      </a:r>
                    </a:p>
                  </a:txBody>
                  <a:tcPr marL="101600" marR="101600" marT="50800" marB="50800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Staging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Camada 1:1 com fonte raw · só casts/renames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Mart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Tabela final BI · core (dim/fct) ou analytics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Incremental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Materialização dbt que processa só novas linhas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Singular test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Test dbt como SELECT · falha se retorna linhas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QUALIFY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Cláusula SQL Snowflake/DuckDB para window funcs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Lineage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Grafo de dependências · dbt deriva via ref()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Choropleth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Mapa colorido por valor por região</a:t>
                      </a:r>
                    </a:p>
                  </a:txBody>
                  <a:tcPr marL="101600" marR="101600" marT="50800" marB="50800"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BOGO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Buy One Get One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C5C5C"/>
                </a:solidFill>
                <a:latin typeface="Calibri"/>
              </a:rPr>
              <a:t>Analytics Engineering Platform   ·   Hugo Flávio Santos   ·   github.com/hugoflavio1805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BBDEFB"/>
                </a:solidFill>
                <a:latin typeface="Calibri"/>
              </a:rPr>
              <a:t>DISCUSSION · DEEP-DIVES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BBDEFB"/>
                </a:solidFill>
                <a:latin typeface="Calibri"/>
              </a:rPr>
              <a:t>Questions, drill-downs, or 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3F2FD"/>
                </a:solidFill>
                <a:latin typeface="Calibri"/>
              </a:rPr>
              <a:t>ONDE A FONTE VIVE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8523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nsolas"/>
              </a:rPr>
              <a:t>github.com/hugoflavio1805/analytics-engineering-platform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Hugo Flávio Santos   ·   hugoflavio1805@hotmail.com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4530</Words>
  <Application>Microsoft Office PowerPoint</Application>
  <PresentationFormat>Widescreen</PresentationFormat>
  <Paragraphs>746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Hugostosão</dc:creator>
  <cp:keywords/>
  <dc:description>generated using python-pptx</dc:description>
  <cp:lastModifiedBy>Hugo Flávio</cp:lastModifiedBy>
  <cp:revision>2</cp:revision>
  <dcterms:created xsi:type="dcterms:W3CDTF">2013-01-27T09:14:16Z</dcterms:created>
  <dcterms:modified xsi:type="dcterms:W3CDTF">2026-05-12T23:18:58Z</dcterms:modified>
  <cp:category/>
</cp:coreProperties>
</file>